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R² Score (×100)</c:v>
                </c:pt>
              </c:strCache>
            </c:strRef>
          </c:tx>
          <c:spPr>
            <a:solidFill>
              <a:srgbClr val="3D5A8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D5A8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D5A8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D5A8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3D5A8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3D5A80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0C2E0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Trial 1</c:v>
                  </c:pt>
                  <c:pt idx="1">
                    <c:v>Trial 2</c:v>
                  </c:pt>
                  <c:pt idx="2">
                    <c:v>Trial 3</c:v>
                  </c:pt>
                  <c:pt idx="3">
                    <c:v>Method 4</c:v>
                  </c:pt>
                  <c:pt idx="4">
                    <c:v>Method 5</c:v>
                  </c:pt>
                  <c:pt idx="5">
                    <c:v>Method 6 ✓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90.02</c:v>
                </c:pt>
                <c:pt idx="1">
                  <c:v>94.45</c:v>
                </c:pt>
                <c:pt idx="2">
                  <c:v>92.79</c:v>
                </c:pt>
                <c:pt idx="3">
                  <c:v>94.39</c:v>
                </c:pt>
                <c:pt idx="4">
                  <c:v>95.21</c:v>
                </c:pt>
                <c:pt idx="5">
                  <c:v>95.22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6"/>
          <c:min val="88"/>
        </c:scaling>
        <c:delete val="0"/>
        <c:axPos val="l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52035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slide. ASTRAM AI — Bengaluru Traffic Operational Intelligence Platform. Flipkart Grid 2.0, Round 2. R² = 0.9522 means 95.22% prediction accuracy on 8,173 real traffic incidents.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core problems: reactive management, resource allocation gaps, event blindspot, and unused historical data. ASTRAM addresses all four.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entire platform is designed around three operational questions. Every UI panel and API endpoint traces back to answering one of these three.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data foundation is 8,173 real anonymized traffic incidents from Bengaluru's ASTRAM system. The 66-column dataset includes spatial, temporal, behavioral, and text embedding features.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ML pipeline runs in real-time: 6 inputs → 36 engineered features → CatBoost inference → score blending with historical context → final impact score and risk class.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key innovation: raw CatBoost output clusters in 0-50. Blending with historical averages + rule-based adjustments produces operationally meaningful 0-100 scores aligned with real-world outcomes.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 specialized engines, each lazy-loaded at startup. Endpoints: 32 REST APIs served by FastAPI. All engines share precomputed lookup tables for sub-millisecond responses.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frontend is a 3-page SPA with Vanilla JS, Leaflet maps, and Chart.js. Served directly from the FastAPI backend — one process, one port, one Docker container.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differentiators: honest explainability (no fake SHAP), unique transit chain flag for bus disruptions, intelligent score blending, and precomputed lookup tables for instant responses.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experimental trials. Method 6 (winner) achieved R² = 0.9522 with only 0.39% train-test gap — excellent generalization. Key: 3-way interaction features and Kannada text detection.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Deliberately lean stack: no heavy frontend framework, frontend and backend ship together as one Docker container. Zero external database dependency at runtime.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Closing. ASTRAM AI is production-ready: Dockerized, 95.22% accurate, with 9 specialized engines, 32 APIs, and a 3-page operational dashboard for Bengaluru traffic officers.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73152"/>
            <a:ext cx="3108960" cy="219456"/>
          </a:xfrm>
          <a:prstGeom prst="roundRect">
            <a:avLst>
              <a:gd name="adj" fmla="val 20833"/>
            </a:avLst>
          </a:prstGeom>
          <a:solidFill>
            <a:srgbClr val="00C2E0"/>
          </a:solidFill>
          <a:ln w="12700">
            <a:solidFill>
              <a:srgbClr val="00C2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0D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FLIPKART GRID 2.0  ·  ROUND 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5669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spc="5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ASTRAM AI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457200" y="1938528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Bengaluru Traffic Operational Intelligence Platform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542032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 Congestion  ·  Planned &amp; Unplanned Incidents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44805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Shiva Preetham Rohith  ·  Flipkart Grid 2.0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46520" y="594360"/>
            <a:ext cx="2286000" cy="1234440"/>
          </a:xfrm>
          <a:prstGeom prst="roundRect">
            <a:avLst>
              <a:gd name="adj" fmla="val 8889"/>
            </a:avLst>
          </a:prstGeom>
          <a:solidFill>
            <a:srgbClr val="152035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46520" y="7315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0.9522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6446520" y="146304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Score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46520" y="2039112"/>
            <a:ext cx="2286000" cy="1234440"/>
          </a:xfrm>
          <a:prstGeom prst="roundRect">
            <a:avLst>
              <a:gd name="adj" fmla="val 8889"/>
            </a:avLst>
          </a:prstGeom>
          <a:solidFill>
            <a:srgbClr val="152035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2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46520" y="2176272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8,173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6446520" y="290779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Incidents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46520" y="3483864"/>
            <a:ext cx="2286000" cy="1234440"/>
          </a:xfrm>
          <a:prstGeom prst="roundRect">
            <a:avLst>
              <a:gd name="adj" fmla="val 8889"/>
            </a:avLst>
          </a:prstGeom>
          <a:solidFill>
            <a:srgbClr val="152035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2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46520" y="3621024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446520" y="435254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73152"/>
            <a:ext cx="2011680" cy="219456"/>
          </a:xfrm>
          <a:prstGeom prst="roundRect">
            <a:avLst>
              <a:gd name="adj" fmla="val 20833"/>
            </a:avLst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0D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8229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Bengaluru's Traffic Management Gap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89611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8,173 incidents recorded in 5 months across 21 corridors — managed reactively with no predictive system.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4206240" cy="1536192"/>
          </a:xfrm>
          <a:prstGeom prst="roundRect">
            <a:avLst>
              <a:gd name="adj" fmla="val 7143"/>
            </a:avLst>
          </a:prstGeom>
          <a:solidFill>
            <a:srgbClr val="152035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938528"/>
            <a:ext cx="347472" cy="347472"/>
          </a:xfrm>
          <a:prstGeom prst="ellipse">
            <a:avLst/>
          </a:prstGeom>
          <a:solidFill>
            <a:srgbClr val="00C2E0"/>
          </a:solidFill>
          <a:ln w="12700">
            <a:solidFill>
              <a:srgbClr val="00C2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9385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24128" y="1499616"/>
            <a:ext cx="3401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Management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24128" y="1883664"/>
            <a:ext cx="340156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Officers respond after congestion peaks. No proactive stance for unplanned incidents or surging planned events like Diwali or IPL.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800600" y="1371600"/>
            <a:ext cx="4206240" cy="1536192"/>
          </a:xfrm>
          <a:prstGeom prst="roundRect">
            <a:avLst>
              <a:gd name="adj" fmla="val 7143"/>
            </a:avLst>
          </a:prstGeom>
          <a:solidFill>
            <a:srgbClr val="152035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983480" y="1938528"/>
            <a:ext cx="347472" cy="347472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83480" y="19385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58968" y="1499616"/>
            <a:ext cx="3401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Allocation Gaps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58968" y="1883664"/>
            <a:ext cx="340156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systematic way to determine how many officers, barricades, or tow trucks to deploy. Over- or under-resourcing is routine.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3063240"/>
            <a:ext cx="4206240" cy="1536192"/>
          </a:xfrm>
          <a:prstGeom prst="roundRect">
            <a:avLst>
              <a:gd name="adj" fmla="val 7143"/>
            </a:avLst>
          </a:prstGeom>
          <a:solidFill>
            <a:srgbClr val="152035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3630168"/>
            <a:ext cx="347472" cy="347472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630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24128" y="3191256"/>
            <a:ext cx="3401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Blindspot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24128" y="3575304"/>
            <a:ext cx="340156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Festivals, marathons, protests cause massive surges but no tool predicts their traffic severity ahead of time for preemptive action.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00600" y="3063240"/>
            <a:ext cx="4206240" cy="1536192"/>
          </a:xfrm>
          <a:prstGeom prst="roundRect">
            <a:avLst>
              <a:gd name="adj" fmla="val 7143"/>
            </a:avLst>
          </a:prstGeom>
          <a:solidFill>
            <a:srgbClr val="152035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2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983480" y="3630168"/>
            <a:ext cx="347472" cy="34747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83480" y="3630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58968" y="3191256"/>
            <a:ext cx="3401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Unused Historical Data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458968" y="3575304"/>
            <a:ext cx="340156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8,173 incidents sit in a database — patterns, critical rates, and hotspots go unextracted, leaving officers without operational intelligence.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73152"/>
            <a:ext cx="2194560" cy="219456"/>
          </a:xfrm>
          <a:prstGeom prst="roundRect">
            <a:avLst>
              <a:gd name="adj" fmla="val 20833"/>
            </a:avLst>
          </a:prstGeom>
          <a:solidFill>
            <a:srgbClr val="00C2E0"/>
          </a:solidFill>
          <a:ln w="12700">
            <a:solidFill>
              <a:srgbClr val="00C2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0D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ASTRAM SOLUTION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8229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to Answer Three Operational Questions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987552"/>
            <a:ext cx="2651760" cy="3913632"/>
          </a:xfrm>
          <a:prstGeom prst="roundRect">
            <a:avLst>
              <a:gd name="adj" fmla="val 4138"/>
            </a:avLst>
          </a:prstGeom>
          <a:solidFill>
            <a:srgbClr val="152035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152144"/>
            <a:ext cx="594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1993392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severe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 incident?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57200" y="267919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Impact Score  0–100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7200" y="3136392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CatBoost Regressor with 36 engineered features predicts a continuous impact score. Classified into Low / Medium / High / Critical risk automatically.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449884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0.9522  ·  36 features  ·  CatBoost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182112" y="987552"/>
            <a:ext cx="2651760" cy="3913632"/>
          </a:xfrm>
          <a:prstGeom prst="roundRect">
            <a:avLst>
              <a:gd name="adj" fmla="val 4138"/>
            </a:avLst>
          </a:prstGeom>
          <a:solidFill>
            <a:srgbClr val="152035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2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319272" y="1152144"/>
            <a:ext cx="594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3319272" y="1993392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resources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we need?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319272" y="267919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Planning Engine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319272" y="3136392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engine generates a phased deployment timeline: 0–15 min, 15–30 min, 30–60 min. Personnel, vehicles, and barricade counts are tier-scaled.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319272" y="449884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cause types  ·  Tier-scaled deployment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044184" y="987552"/>
            <a:ext cx="2651760" cy="3913632"/>
          </a:xfrm>
          <a:prstGeom prst="roundRect">
            <a:avLst>
              <a:gd name="adj" fmla="val 4138"/>
            </a:avLst>
          </a:prstGeom>
          <a:solidFill>
            <a:srgbClr val="152035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2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181344" y="1152144"/>
            <a:ext cx="594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6181344" y="1993392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tell us?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181344" y="267919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Intelligence Layer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181344" y="3136392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Searches 8,173 historical incidents for similar patterns. Returns critical rates, confidence levels, corridor DNA profiles, and the 168-slot risk window.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181344" y="449884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168 risk slots  ·  21 corridors  ·  54 stations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73152"/>
            <a:ext cx="1828800" cy="219456"/>
          </a:xfrm>
          <a:prstGeom prst="roundRect">
            <a:avLst>
              <a:gd name="adj" fmla="val 20833"/>
            </a:avLst>
          </a:prstGeom>
          <a:solidFill>
            <a:srgbClr val="00C2E0"/>
          </a:solidFill>
          <a:ln w="12700">
            <a:solidFill>
              <a:srgbClr val="00C2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0D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FOUNDATION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8229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Real Bengaluru Traffic Data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8961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months of anonymized ASTRAM system records  ·  21 major corridors  ·  54 police station jurisdictions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298448"/>
            <a:ext cx="2651760" cy="1572768"/>
          </a:xfrm>
          <a:prstGeom prst="roundRect">
            <a:avLst>
              <a:gd name="adj" fmla="val 6977"/>
            </a:avLst>
          </a:prstGeom>
          <a:solidFill>
            <a:srgbClr val="152035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463040"/>
            <a:ext cx="2651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8,173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320040" y="23774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Incidents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72968" y="1298448"/>
            <a:ext cx="2651760" cy="1572768"/>
          </a:xfrm>
          <a:prstGeom prst="roundRect">
            <a:avLst>
              <a:gd name="adj" fmla="val 6977"/>
            </a:avLst>
          </a:prstGeom>
          <a:solidFill>
            <a:srgbClr val="152035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172968" y="1463040"/>
            <a:ext cx="2651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3172968" y="23774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Corridors Monitored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25896" y="1298448"/>
            <a:ext cx="2651760" cy="1572768"/>
          </a:xfrm>
          <a:prstGeom prst="roundRect">
            <a:avLst>
              <a:gd name="adj" fmla="val 6977"/>
            </a:avLst>
          </a:prstGeom>
          <a:solidFill>
            <a:srgbClr val="152035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025896" y="1463040"/>
            <a:ext cx="2651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6025896" y="23774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Police Stations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3081528"/>
            <a:ext cx="2651760" cy="1572768"/>
          </a:xfrm>
          <a:prstGeom prst="roundRect">
            <a:avLst>
              <a:gd name="adj" fmla="val 6977"/>
            </a:avLst>
          </a:prstGeom>
          <a:solidFill>
            <a:srgbClr val="152035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2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20040" y="3246120"/>
            <a:ext cx="2651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320040" y="41605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 Categories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172968" y="3081528"/>
            <a:ext cx="2651760" cy="1572768"/>
          </a:xfrm>
          <a:prstGeom prst="roundRect">
            <a:avLst>
              <a:gd name="adj" fmla="val 6977"/>
            </a:avLst>
          </a:prstGeom>
          <a:solidFill>
            <a:srgbClr val="152035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2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172968" y="3246120"/>
            <a:ext cx="2651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168</a:t>
            </a:r>
            <a:endParaRPr lang="en-US" sz="4400" dirty="0"/>
          </a:p>
        </p:txBody>
      </p:sp>
      <p:sp>
        <p:nvSpPr>
          <p:cNvPr id="20" name="Text 18"/>
          <p:cNvSpPr/>
          <p:nvPr/>
        </p:nvSpPr>
        <p:spPr>
          <a:xfrm>
            <a:off x="3172968" y="41605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Window Slots (7d×24h)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025896" y="3081528"/>
            <a:ext cx="2651760" cy="1572768"/>
          </a:xfrm>
          <a:prstGeom prst="roundRect">
            <a:avLst>
              <a:gd name="adj" fmla="val 6977"/>
            </a:avLst>
          </a:prstGeom>
          <a:solidFill>
            <a:srgbClr val="152035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2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025896" y="3246120"/>
            <a:ext cx="2651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</a:t>
            </a:r>
            <a:endParaRPr lang="en-US" sz="4400" dirty="0"/>
          </a:p>
        </p:txBody>
      </p:sp>
      <p:sp>
        <p:nvSpPr>
          <p:cNvPr id="23" name="Text 21"/>
          <p:cNvSpPr/>
          <p:nvPr/>
        </p:nvSpPr>
        <p:spPr>
          <a:xfrm>
            <a:off x="6025896" y="41605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Columns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73152"/>
            <a:ext cx="1371600" cy="219456"/>
          </a:xfrm>
          <a:prstGeom prst="roundRect">
            <a:avLst>
              <a:gd name="adj" fmla="val 20833"/>
            </a:avLst>
          </a:prstGeom>
          <a:solidFill>
            <a:srgbClr val="00C2E0"/>
          </a:solidFill>
          <a:ln w="12700">
            <a:solidFill>
              <a:srgbClr val="00C2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0D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ENGINE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8229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CatBoost Regressor — R² = 0.9522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4048" y="960120"/>
            <a:ext cx="347472" cy="347472"/>
          </a:xfrm>
          <a:prstGeom prst="ellipse">
            <a:avLst/>
          </a:prstGeom>
          <a:solidFill>
            <a:srgbClr val="00C2E0"/>
          </a:solidFill>
          <a:ln w="12700">
            <a:solidFill>
              <a:srgbClr val="00C2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9601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57784" y="1307592"/>
            <a:ext cx="0" cy="420624"/>
          </a:xfrm>
          <a:prstGeom prst="line">
            <a:avLst/>
          </a:prstGeom>
          <a:noFill/>
          <a:ln w="12700">
            <a:solidFill>
              <a:srgbClr val="3D5A80"/>
            </a:solidFill>
            <a:prstDash val="dot"/>
          </a:ln>
        </p:spPr>
      </p:sp>
      <p:sp>
        <p:nvSpPr>
          <p:cNvPr id="8" name="Text 6"/>
          <p:cNvSpPr/>
          <p:nvPr/>
        </p:nvSpPr>
        <p:spPr>
          <a:xfrm>
            <a:off x="886968" y="932688"/>
            <a:ext cx="4389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User Inputs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86968" y="1289304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  ·  corridor  ·  hour  ·  closure  ·  vehicle  ·  weekday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84048" y="1755648"/>
            <a:ext cx="347472" cy="347472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7556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57784" y="2103120"/>
            <a:ext cx="0" cy="420624"/>
          </a:xfrm>
          <a:prstGeom prst="line">
            <a:avLst/>
          </a:prstGeom>
          <a:noFill/>
          <a:ln w="12700">
            <a:solidFill>
              <a:srgbClr val="3D5A80"/>
            </a:solidFill>
            <a:prstDash val="dot"/>
          </a:ln>
        </p:spPr>
      </p:sp>
      <p:sp>
        <p:nvSpPr>
          <p:cNvPr id="13" name="Text 11"/>
          <p:cNvSpPr/>
          <p:nvPr/>
        </p:nvSpPr>
        <p:spPr>
          <a:xfrm>
            <a:off x="886968" y="1728216"/>
            <a:ext cx="4389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36-Feature Engineering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86968" y="2084832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cyclical time  ·  corridor tier  ·  Kannada detection  ·  3-way interaction terms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84048" y="2551176"/>
            <a:ext cx="347472" cy="347472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25511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57784" y="2898648"/>
            <a:ext cx="0" cy="420624"/>
          </a:xfrm>
          <a:prstGeom prst="line">
            <a:avLst/>
          </a:prstGeom>
          <a:noFill/>
          <a:ln w="12700">
            <a:solidFill>
              <a:srgbClr val="3D5A80"/>
            </a:solidFill>
            <a:prstDash val="dot"/>
          </a:ln>
        </p:spPr>
      </p:sp>
      <p:sp>
        <p:nvSpPr>
          <p:cNvPr id="18" name="Text 16"/>
          <p:cNvSpPr/>
          <p:nvPr/>
        </p:nvSpPr>
        <p:spPr>
          <a:xfrm>
            <a:off x="886968" y="2523744"/>
            <a:ext cx="4389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CatBoost Inference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86968" y="288036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iterations  ·  depth=4  ·  lr=0.05  ·  L2_reg=3  ·  240 KB frozen model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84048" y="3346704"/>
            <a:ext cx="347472" cy="34747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33467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57784" y="3694176"/>
            <a:ext cx="0" cy="420624"/>
          </a:xfrm>
          <a:prstGeom prst="line">
            <a:avLst/>
          </a:prstGeom>
          <a:noFill/>
          <a:ln w="12700">
            <a:solidFill>
              <a:srgbClr val="3D5A80"/>
            </a:solidFill>
            <a:prstDash val="dot"/>
          </a:ln>
        </p:spPr>
      </p:sp>
      <p:sp>
        <p:nvSpPr>
          <p:cNvPr id="23" name="Text 21"/>
          <p:cNvSpPr/>
          <p:nvPr/>
        </p:nvSpPr>
        <p:spPr>
          <a:xfrm>
            <a:off x="886968" y="3319272"/>
            <a:ext cx="4389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Blending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886968" y="3675888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 model + 60% historical avg when 10+ similar incidents found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84048" y="4142232"/>
            <a:ext cx="347472" cy="347472"/>
          </a:xfrm>
          <a:prstGeom prst="ellipse">
            <a:avLst/>
          </a:prstGeom>
          <a:solidFill>
            <a:srgbClr val="00C2E0"/>
          </a:solidFill>
          <a:ln w="12700">
            <a:solidFill>
              <a:srgbClr val="00C2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4048" y="41422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86968" y="4114800"/>
            <a:ext cx="4389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Score + Risk Class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886968" y="4471416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0–100 continuous score  ·  Low / Medium / High / Critical classification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760720" y="932688"/>
            <a:ext cx="3017520" cy="868680"/>
          </a:xfrm>
          <a:prstGeom prst="roundRect">
            <a:avLst>
              <a:gd name="adj" fmla="val 12632"/>
            </a:avLst>
          </a:prstGeom>
          <a:solidFill>
            <a:srgbClr val="152035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2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760720" y="987552"/>
            <a:ext cx="3017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0.9522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5760720" y="1517904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Score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760720" y="1956816"/>
            <a:ext cx="3017520" cy="868680"/>
          </a:xfrm>
          <a:prstGeom prst="roundRect">
            <a:avLst>
              <a:gd name="adj" fmla="val 12632"/>
            </a:avLst>
          </a:prstGeom>
          <a:solidFill>
            <a:srgbClr val="152035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2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760720" y="2011680"/>
            <a:ext cx="3017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3.241</a:t>
            </a:r>
            <a:endParaRPr lang="en-US" sz="3000" dirty="0"/>
          </a:p>
        </p:txBody>
      </p:sp>
      <p:sp>
        <p:nvSpPr>
          <p:cNvPr id="34" name="Text 32"/>
          <p:cNvSpPr/>
          <p:nvPr/>
        </p:nvSpPr>
        <p:spPr>
          <a:xfrm>
            <a:off x="5760720" y="2542032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(Mean Abs Error)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760720" y="2980944"/>
            <a:ext cx="3017520" cy="868680"/>
          </a:xfrm>
          <a:prstGeom prst="roundRect">
            <a:avLst>
              <a:gd name="adj" fmla="val 12632"/>
            </a:avLst>
          </a:prstGeom>
          <a:solidFill>
            <a:srgbClr val="152035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2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5760720" y="3035808"/>
            <a:ext cx="3017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3000" dirty="0"/>
          </a:p>
        </p:txBody>
      </p:sp>
      <p:sp>
        <p:nvSpPr>
          <p:cNvPr id="37" name="Text 35"/>
          <p:cNvSpPr/>
          <p:nvPr/>
        </p:nvSpPr>
        <p:spPr>
          <a:xfrm>
            <a:off x="5760720" y="356616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Features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760720" y="4005072"/>
            <a:ext cx="3017520" cy="868680"/>
          </a:xfrm>
          <a:prstGeom prst="roundRect">
            <a:avLst>
              <a:gd name="adj" fmla="val 12632"/>
            </a:avLst>
          </a:prstGeom>
          <a:solidFill>
            <a:srgbClr val="152035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2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5760720" y="4059936"/>
            <a:ext cx="3017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0.39%</a:t>
            </a:r>
            <a:endParaRPr lang="en-US" sz="3000" dirty="0"/>
          </a:p>
        </p:txBody>
      </p:sp>
      <p:sp>
        <p:nvSpPr>
          <p:cNvPr id="40" name="Text 38"/>
          <p:cNvSpPr/>
          <p:nvPr/>
        </p:nvSpPr>
        <p:spPr>
          <a:xfrm>
            <a:off x="5760720" y="4590288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Train-Test Gap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73152"/>
            <a:ext cx="1737360" cy="219456"/>
          </a:xfrm>
          <a:prstGeom prst="roundRect">
            <a:avLst>
              <a:gd name="adj" fmla="val 20833"/>
            </a:avLst>
          </a:prstGeom>
          <a:solidFill>
            <a:srgbClr val="00C2E0"/>
          </a:solidFill>
          <a:ln w="12700">
            <a:solidFill>
              <a:srgbClr val="00C2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0D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INNOVATION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8229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Score Blending + Risk Classification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937760" cy="2450592"/>
          </a:xfrm>
          <a:prstGeom prst="roundRect">
            <a:avLst>
              <a:gd name="adj" fmla="val 4478"/>
            </a:avLst>
          </a:prstGeom>
          <a:solidFill>
            <a:srgbClr val="152035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66928" y="114300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Blending Logic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66928" y="1572768"/>
            <a:ext cx="4572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 10+ similar incidents found: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6928" y="1837944"/>
            <a:ext cx="4572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Final = ML × 0.40 + Historical Avg × 0.60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2103120"/>
            <a:ext cx="4572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 5–10 similar incidents found: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66928" y="2368296"/>
            <a:ext cx="4572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Final = ML × 0.50 + Historical Avg × 0.50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6928" y="2633472"/>
            <a:ext cx="4572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Otherwise: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66928" y="2898648"/>
            <a:ext cx="4572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Final = Raw ML score (no blending)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577840" y="1005840"/>
            <a:ext cx="3200400" cy="2450592"/>
          </a:xfrm>
          <a:prstGeom prst="roundRect">
            <a:avLst>
              <a:gd name="adj" fmla="val 4478"/>
            </a:avLst>
          </a:prstGeom>
          <a:solidFill>
            <a:srgbClr val="152035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760720" y="114300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Adjustments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760720" y="1572768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46520" y="1572768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Closure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760720" y="183794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46520" y="1837944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 Corridor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760720" y="2103120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46520" y="2103120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 Corridor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760720" y="2368296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46520" y="2368296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Protest / Water Logging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760720" y="2633472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46520" y="2633472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Fall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760720" y="2898648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–8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46520" y="2898648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 Hours (22:00–05:00)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65760" y="3621024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Classification Thresholds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65760" y="4005072"/>
            <a:ext cx="1993392" cy="868680"/>
          </a:xfrm>
          <a:prstGeom prst="roundRect">
            <a:avLst>
              <a:gd name="adj" fmla="val 8421"/>
            </a:avLst>
          </a:prstGeom>
          <a:solidFill>
            <a:srgbClr val="4ADE80">
              <a:alpha val="22000"/>
            </a:srgbClr>
          </a:solidFill>
          <a:ln w="15240">
            <a:solidFill>
              <a:srgbClr val="4ADE8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050792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65760" y="4434840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– 25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560320" y="4005072"/>
            <a:ext cx="1993392" cy="868680"/>
          </a:xfrm>
          <a:prstGeom prst="roundRect">
            <a:avLst>
              <a:gd name="adj" fmla="val 8421"/>
            </a:avLst>
          </a:prstGeom>
          <a:solidFill>
            <a:srgbClr val="FBBF24">
              <a:alpha val="22000"/>
            </a:srgbClr>
          </a:solidFill>
          <a:ln w="15240">
            <a:solidFill>
              <a:srgbClr val="FBBF2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560320" y="4050792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2560320" y="4434840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– 50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54880" y="4005072"/>
            <a:ext cx="1993392" cy="868680"/>
          </a:xfrm>
          <a:prstGeom prst="roundRect">
            <a:avLst>
              <a:gd name="adj" fmla="val 8421"/>
            </a:avLst>
          </a:prstGeom>
          <a:solidFill>
            <a:srgbClr val="FF6B35">
              <a:alpha val="22000"/>
            </a:srgbClr>
          </a:solidFill>
          <a:ln w="15240">
            <a:solidFill>
              <a:srgbClr val="FF6B3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0" y="4050792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754880" y="4434840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– 75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949440" y="4005072"/>
            <a:ext cx="1993392" cy="868680"/>
          </a:xfrm>
          <a:prstGeom prst="roundRect">
            <a:avLst>
              <a:gd name="adj" fmla="val 8421"/>
            </a:avLst>
          </a:prstGeom>
          <a:solidFill>
            <a:srgbClr val="F43F5E">
              <a:alpha val="22000"/>
            </a:srgbClr>
          </a:solidFill>
          <a:ln w="15240">
            <a:solidFill>
              <a:srgbClr val="F43F5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949440" y="4050792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949440" y="4434840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 – 100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73152"/>
            <a:ext cx="1554480" cy="219456"/>
          </a:xfrm>
          <a:prstGeom prst="roundRect">
            <a:avLst>
              <a:gd name="adj" fmla="val 20833"/>
            </a:avLst>
          </a:prstGeom>
          <a:solidFill>
            <a:srgbClr val="00C2E0"/>
          </a:solidFill>
          <a:ln w="12700">
            <a:solidFill>
              <a:srgbClr val="00C2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0D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8229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Specialized Backend Engines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2651760" cy="1143000"/>
          </a:xfrm>
          <a:prstGeom prst="roundRect">
            <a:avLst>
              <a:gd name="adj" fmla="val 9600"/>
            </a:avLst>
          </a:prstGeom>
          <a:solidFill>
            <a:srgbClr val="152035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84632" y="1207008"/>
            <a:ext cx="219456" cy="219456"/>
          </a:xfrm>
          <a:prstGeom prst="ellipse">
            <a:avLst/>
          </a:prstGeom>
          <a:solidFill>
            <a:srgbClr val="00C2E0"/>
          </a:solidFill>
          <a:ln w="12700">
            <a:solidFill>
              <a:srgbClr val="00C2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" y="1115568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Engine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84632" y="1545336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CatBoost · R²=0.9522 · 36 features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172968" y="1024128"/>
            <a:ext cx="2651760" cy="1143000"/>
          </a:xfrm>
          <a:prstGeom prst="roundRect">
            <a:avLst>
              <a:gd name="adj" fmla="val 9600"/>
            </a:avLst>
          </a:prstGeom>
          <a:solidFill>
            <a:srgbClr val="152035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37560" y="1207008"/>
            <a:ext cx="219456" cy="219456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48456" y="1115568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Engine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337560" y="1545336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8,173-incident similarity search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25896" y="1024128"/>
            <a:ext cx="2651760" cy="1143000"/>
          </a:xfrm>
          <a:prstGeom prst="roundRect">
            <a:avLst>
              <a:gd name="adj" fmla="val 9600"/>
            </a:avLst>
          </a:prstGeom>
          <a:solidFill>
            <a:srgbClr val="152035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2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90488" y="1207008"/>
            <a:ext cx="219456" cy="219456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01384" y="1115568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Engine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190488" y="1545336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phased deployment timeline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2322576"/>
            <a:ext cx="2651760" cy="1143000"/>
          </a:xfrm>
          <a:prstGeom prst="roundRect">
            <a:avLst>
              <a:gd name="adj" fmla="val 9600"/>
            </a:avLst>
          </a:prstGeom>
          <a:solidFill>
            <a:srgbClr val="152035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4632" y="2505456"/>
            <a:ext cx="219456" cy="219456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5528" y="2414016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Corridor Engine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84632" y="2843784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 · Stress Index · Risk Window · Stations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172968" y="2322576"/>
            <a:ext cx="2651760" cy="1143000"/>
          </a:xfrm>
          <a:prstGeom prst="roundRect">
            <a:avLst>
              <a:gd name="adj" fmla="val 9600"/>
            </a:avLst>
          </a:prstGeom>
          <a:solidFill>
            <a:srgbClr val="152035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2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337560" y="2505456"/>
            <a:ext cx="219456" cy="219456"/>
          </a:xfrm>
          <a:prstGeom prst="ellipse">
            <a:avLst/>
          </a:prstGeom>
          <a:solidFill>
            <a:srgbClr val="00C2E0"/>
          </a:solidFill>
          <a:ln w="12700">
            <a:solidFill>
              <a:srgbClr val="00C2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48456" y="2414016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Engine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3337560" y="2843784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event impact prediction (55 events)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025896" y="2322576"/>
            <a:ext cx="2651760" cy="1143000"/>
          </a:xfrm>
          <a:prstGeom prst="roundRect">
            <a:avLst>
              <a:gd name="adj" fmla="val 9600"/>
            </a:avLst>
          </a:prstGeom>
          <a:solidFill>
            <a:srgbClr val="152035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2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90488" y="2505456"/>
            <a:ext cx="219456" cy="219456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01384" y="2414016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Engine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190488" y="2843784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logging risk per corridor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" y="3621024"/>
            <a:ext cx="2651760" cy="1143000"/>
          </a:xfrm>
          <a:prstGeom prst="roundRect">
            <a:avLst>
              <a:gd name="adj" fmla="val 9600"/>
            </a:avLst>
          </a:prstGeom>
          <a:solidFill>
            <a:srgbClr val="152035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2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4632" y="3803904"/>
            <a:ext cx="219456" cy="219456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95528" y="3712464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Simulator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484632" y="4142232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real-time incident generation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172968" y="3621024"/>
            <a:ext cx="2651760" cy="1143000"/>
          </a:xfrm>
          <a:prstGeom prst="roundRect">
            <a:avLst>
              <a:gd name="adj" fmla="val 9600"/>
            </a:avLst>
          </a:prstGeom>
          <a:solidFill>
            <a:srgbClr val="152035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2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337560" y="3803904"/>
            <a:ext cx="219456" cy="219456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48456" y="3712464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Diversion Engine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3337560" y="4142232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Alternate routes + barricade placement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025896" y="3621024"/>
            <a:ext cx="2651760" cy="1143000"/>
          </a:xfrm>
          <a:prstGeom prst="roundRect">
            <a:avLst>
              <a:gd name="adj" fmla="val 9600"/>
            </a:avLst>
          </a:prstGeom>
          <a:solidFill>
            <a:srgbClr val="152035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2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190488" y="3803904"/>
            <a:ext cx="219456" cy="219456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01384" y="3712464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Engine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6190488" y="4142232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logging · model drift analysis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73152"/>
            <a:ext cx="1371600" cy="219456"/>
          </a:xfrm>
          <a:prstGeom prst="roundRect">
            <a:avLst>
              <a:gd name="adj" fmla="val 20833"/>
            </a:avLst>
          </a:prstGeom>
          <a:solidFill>
            <a:srgbClr val="00C2E0"/>
          </a:solidFill>
          <a:ln w="12700">
            <a:solidFill>
              <a:srgbClr val="00C2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0D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8229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3-Page Web Interface for Traffic Officers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987552"/>
            <a:ext cx="2651760" cy="3931920"/>
          </a:xfrm>
          <a:prstGeom prst="roundRect">
            <a:avLst>
              <a:gd name="adj" fmla="val 4138"/>
            </a:avLst>
          </a:prstGeom>
          <a:solidFill>
            <a:srgbClr val="152035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84632" y="1133856"/>
            <a:ext cx="2322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84632" y="1426464"/>
            <a:ext cx="2322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Center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84632" y="1947672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Leaflet map — 500 incidents on Bengaluru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84632" y="2423160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overlay modes: Incidents · Corridors · Heat Map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84632" y="2898648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KPI cards: Total, Critical, Closures, Avg Impact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84632" y="3374136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Corridor Stress Index bars (21 corridors ranked)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4632" y="3849624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168-slot Risk Window heatmap (weekday × hour)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4632" y="4325112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Scrollable live incident feed with timestamps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172968" y="987552"/>
            <a:ext cx="2651760" cy="3931920"/>
          </a:xfrm>
          <a:prstGeom prst="roundRect">
            <a:avLst>
              <a:gd name="adj" fmla="val 4138"/>
            </a:avLst>
          </a:prstGeom>
          <a:solidFill>
            <a:srgbClr val="152035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2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337560" y="1133856"/>
            <a:ext cx="2322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337560" y="1426464"/>
            <a:ext cx="2322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Predictor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337560" y="1947672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6-field input form (cause, corridor, vehicle, time)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37560" y="2423160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Animated impact ring (0–100) with risk class badge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37560" y="2898648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resource timeline (0–15 → 15–30 → 30–60 min)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37560" y="3374136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evidence: critical rate, score distribution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37560" y="3849624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vs AI: deterministic baseline + AI narrative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37560" y="4325112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Corridor DNA profile + What-If closure toggle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025896" y="987552"/>
            <a:ext cx="2651760" cy="3931920"/>
          </a:xfrm>
          <a:prstGeom prst="roundRect">
            <a:avLst>
              <a:gd name="adj" fmla="val 4138"/>
            </a:avLst>
          </a:prstGeom>
          <a:solidFill>
            <a:srgbClr val="152035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2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190488" y="1133856"/>
            <a:ext cx="2322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190488" y="1426464"/>
            <a:ext cx="2322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Corridor Intelligence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190488" y="1947672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Index leaderboard (21 corridors ranked)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190488" y="2423160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 distribution (24-hour incident pattern)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190488" y="2898648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 distribution doughnut (8 main causes)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190488" y="3374136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Closure rate by cause type (horizontal bar chart)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73152"/>
            <a:ext cx="1828800" cy="219456"/>
          </a:xfrm>
          <a:prstGeom prst="roundRect">
            <a:avLst>
              <a:gd name="adj" fmla="val 20833"/>
            </a:avLst>
          </a:prstGeom>
          <a:solidFill>
            <a:srgbClr val="00C2E0"/>
          </a:solidFill>
          <a:ln w="12700">
            <a:solidFill>
              <a:srgbClr val="00C2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0D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DIFFERENTIATORS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8229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ASTRAM AI Different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4206240" cy="1719072"/>
          </a:xfrm>
          <a:prstGeom prst="roundRect">
            <a:avLst>
              <a:gd name="adj" fmla="val 6383"/>
            </a:avLst>
          </a:prstGeom>
          <a:solidFill>
            <a:srgbClr val="152035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30352" y="1225296"/>
            <a:ext cx="1325880" cy="384048"/>
          </a:xfrm>
          <a:prstGeom prst="roundRect">
            <a:avLst>
              <a:gd name="adj" fmla="val 16667"/>
            </a:avLst>
          </a:prstGeom>
          <a:solidFill>
            <a:srgbClr val="00C2E0">
              <a:alpha val="80000"/>
            </a:srgbClr>
          </a:solidFill>
          <a:ln w="12700">
            <a:solidFill>
              <a:srgbClr val="00C2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225296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00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FAKE SHAP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965960" y="1225296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Explainability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30352" y="1719072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Baseline formula shows exactly how each factor contributes — road closure, corridor tier, cause severity, time — in numbers any officer can verify. AI narrative shows real historical statistics.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00600" y="1078992"/>
            <a:ext cx="4206240" cy="1719072"/>
          </a:xfrm>
          <a:prstGeom prst="roundRect">
            <a:avLst>
              <a:gd name="adj" fmla="val 6383"/>
            </a:avLst>
          </a:prstGeom>
          <a:solidFill>
            <a:srgbClr val="152035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965192" y="1225296"/>
            <a:ext cx="1325880" cy="384048"/>
          </a:xfrm>
          <a:prstGeom prst="roundRect">
            <a:avLst>
              <a:gd name="adj" fmla="val 16667"/>
            </a:avLst>
          </a:prstGeom>
          <a:solidFill>
            <a:srgbClr val="FF6B35">
              <a:alpha val="80000"/>
            </a:srgbClr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65192" y="1225296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DETECTION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6400800" y="1225296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 Chain Flag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65192" y="1719072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BMTC / KSRTC bus breakdown on a Tier 1 corridor triggers a cascade disruption alert. 530 historical cases identified across Bengaluru — depot coordination is automatically recommended.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2999232"/>
            <a:ext cx="4206240" cy="1719072"/>
          </a:xfrm>
          <a:prstGeom prst="roundRect">
            <a:avLst>
              <a:gd name="adj" fmla="val 6383"/>
            </a:avLst>
          </a:prstGeom>
          <a:solidFill>
            <a:srgbClr val="152035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30352" y="3145536"/>
            <a:ext cx="1325880" cy="384048"/>
          </a:xfrm>
          <a:prstGeom prst="roundRect">
            <a:avLst>
              <a:gd name="adj" fmla="val 16667"/>
            </a:avLst>
          </a:prstGeom>
          <a:solidFill>
            <a:srgbClr val="4ADE80">
              <a:alpha val="80000"/>
            </a:srgbClr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3145536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+ HISTORY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965960" y="3145536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Score Blending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30352" y="3639312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CatBoost output clusters in 0–50. Dynamically blended with historical averages and rule-based adjustments, the final score spans 0–100 and aligns with real operational severity.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800600" y="2999232"/>
            <a:ext cx="4206240" cy="1719072"/>
          </a:xfrm>
          <a:prstGeom prst="roundRect">
            <a:avLst>
              <a:gd name="adj" fmla="val 6383"/>
            </a:avLst>
          </a:prstGeom>
          <a:solidFill>
            <a:srgbClr val="152035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965192" y="3145536"/>
            <a:ext cx="1325880" cy="384048"/>
          </a:xfrm>
          <a:prstGeom prst="roundRect">
            <a:avLst>
              <a:gd name="adj" fmla="val 16667"/>
            </a:avLst>
          </a:prstGeom>
          <a:solidFill>
            <a:srgbClr val="FBBF24">
              <a:alpha val="80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65192" y="3145536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PRECOMPUTED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6400800" y="3145536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Sub-millisecond Lookups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965192" y="3639312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lookup tables (corridor DNA, stress index, risk window, stations, resources, historical index) are precomputed once and loaded at startup. Zero runtime computation for common queries.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73152"/>
            <a:ext cx="1371600" cy="219456"/>
          </a:xfrm>
          <a:prstGeom prst="roundRect">
            <a:avLst>
              <a:gd name="adj" fmla="val 20833"/>
            </a:avLst>
          </a:prstGeom>
          <a:solidFill>
            <a:srgbClr val="00C2E0"/>
          </a:solidFill>
          <a:ln w="12700">
            <a:solidFill>
              <a:srgbClr val="00C2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0D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8229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 — 6 Experimental Trials</a:t>
            </a:r>
            <a:endParaRPr lang="en-US" sz="2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987552"/>
          <a:ext cx="5303520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897880" y="1005840"/>
            <a:ext cx="2880360" cy="877824"/>
          </a:xfrm>
          <a:prstGeom prst="roundRect">
            <a:avLst>
              <a:gd name="adj" fmla="val 12500"/>
            </a:avLst>
          </a:prstGeom>
          <a:solidFill>
            <a:srgbClr val="152035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2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897880" y="1078992"/>
            <a:ext cx="2880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0.9522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5897880" y="1591056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R² Score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897880" y="2029968"/>
            <a:ext cx="2880360" cy="877824"/>
          </a:xfrm>
          <a:prstGeom prst="roundRect">
            <a:avLst>
              <a:gd name="adj" fmla="val 12500"/>
            </a:avLst>
          </a:prstGeom>
          <a:solidFill>
            <a:srgbClr val="152035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2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897880" y="2103120"/>
            <a:ext cx="2880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3.241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5897880" y="2615184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897880" y="3054096"/>
            <a:ext cx="2880360" cy="877824"/>
          </a:xfrm>
          <a:prstGeom prst="roundRect">
            <a:avLst>
              <a:gd name="adj" fmla="val 12500"/>
            </a:avLst>
          </a:prstGeom>
          <a:solidFill>
            <a:srgbClr val="152035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2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897880" y="3127248"/>
            <a:ext cx="2880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0.39%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5897880" y="3639312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Train-Test Gap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897880" y="4078224"/>
            <a:ext cx="2880360" cy="877824"/>
          </a:xfrm>
          <a:prstGeom prst="roundRect">
            <a:avLst>
              <a:gd name="adj" fmla="val 12500"/>
            </a:avLst>
          </a:prstGeom>
          <a:solidFill>
            <a:srgbClr val="152035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2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5897880" y="4151376"/>
            <a:ext cx="2880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6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5897880" y="466344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 (36 features)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365760" y="445312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6: 36 features with 3-way interaction terms (closure × corridor_tier × temporal_score) and Kannada Unicode text detection.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73152"/>
            <a:ext cx="1920240" cy="219456"/>
          </a:xfrm>
          <a:prstGeom prst="roundRect">
            <a:avLst>
              <a:gd name="adj" fmla="val 20833"/>
            </a:avLst>
          </a:prstGeom>
          <a:solidFill>
            <a:srgbClr val="00C2E0"/>
          </a:solidFill>
          <a:ln w="12700">
            <a:solidFill>
              <a:srgbClr val="00C2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0D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8229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 Full-Stack Architecture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4160520" cy="3767328"/>
          </a:xfrm>
          <a:prstGeom prst="roundRect">
            <a:avLst>
              <a:gd name="adj" fmla="val 2913"/>
            </a:avLst>
          </a:prstGeom>
          <a:solidFill>
            <a:srgbClr val="152035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152144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164592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011680" y="1645920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REST · 32 endpoints · Auto OpenAPI docs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2157984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CatBoost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011680" y="2157984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· 36 features · R²=0.9522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67004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+ Arrow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011680" y="2670048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Parquet I/O · Feature engineering · Aggregation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318211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011680" y="3182112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/ response schema validation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369417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Uvicorn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011680" y="3694176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ASGI server · High-performance async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" y="420624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011680" y="4206240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shivapreetham/astram-ai:latest · Zero-setup deploy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1024128"/>
            <a:ext cx="4160520" cy="3767328"/>
          </a:xfrm>
          <a:prstGeom prst="roundRect">
            <a:avLst>
              <a:gd name="adj" fmla="val 2913"/>
            </a:avLst>
          </a:prstGeom>
          <a:solidFill>
            <a:srgbClr val="152035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2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46320" y="1152144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846320" y="164592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 JS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355080" y="1645920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ES6+ SPA · No framework overhead · 3-page routing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46320" y="2157984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Leaflet.js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355080" y="2157984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Bengaluru map · 500 incident markers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46320" y="267004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Chart.js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355080" y="2670048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· Doughnut · Scatter charts for analytics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46320" y="318211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Variables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355080" y="3182112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glassmorphism · Animated impact ring · Heatmap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46320" y="369417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Static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355080" y="3694176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served from backend — single deployment unit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73152"/>
            <a:ext cx="3108960" cy="219456"/>
          </a:xfrm>
          <a:prstGeom prst="roundRect">
            <a:avLst>
              <a:gd name="adj" fmla="val 20833"/>
            </a:avLst>
          </a:prstGeom>
          <a:solidFill>
            <a:srgbClr val="00C2E0"/>
          </a:solidFill>
          <a:ln w="12700">
            <a:solidFill>
              <a:srgbClr val="00C2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0D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FLIPKART GRID 2.0  ·  ROUND 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548640"/>
            <a:ext cx="7315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0" b="1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ASTRAM AI</a:t>
            </a:r>
            <a:endParaRPr lang="en-US" sz="6200" dirty="0"/>
          </a:p>
        </p:txBody>
      </p:sp>
      <p:sp>
        <p:nvSpPr>
          <p:cNvPr id="5" name="Text 3"/>
          <p:cNvSpPr/>
          <p:nvPr/>
        </p:nvSpPr>
        <p:spPr>
          <a:xfrm>
            <a:off x="914400" y="1847088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Bengaluru Traffic Operational Intelligence Platform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" y="2514600"/>
            <a:ext cx="1572768" cy="1280160"/>
          </a:xfrm>
          <a:prstGeom prst="roundRect">
            <a:avLst>
              <a:gd name="adj" fmla="val 8571"/>
            </a:avLst>
          </a:prstGeom>
          <a:solidFill>
            <a:srgbClr val="152035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2651760"/>
            <a:ext cx="1572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 0.9522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20040" y="3246120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39112" y="2514600"/>
            <a:ext cx="1572768" cy="1280160"/>
          </a:xfrm>
          <a:prstGeom prst="roundRect">
            <a:avLst>
              <a:gd name="adj" fmla="val 8571"/>
            </a:avLst>
          </a:prstGeom>
          <a:solidFill>
            <a:srgbClr val="152035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039112" y="2651760"/>
            <a:ext cx="1572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8,173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2039112" y="3246120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758184" y="2514600"/>
            <a:ext cx="1572768" cy="1280160"/>
          </a:xfrm>
          <a:prstGeom prst="roundRect">
            <a:avLst>
              <a:gd name="adj" fmla="val 8571"/>
            </a:avLst>
          </a:prstGeom>
          <a:solidFill>
            <a:srgbClr val="152035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758184" y="2651760"/>
            <a:ext cx="1572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APIs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758184" y="3246120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77256" y="2514600"/>
            <a:ext cx="1572768" cy="1280160"/>
          </a:xfrm>
          <a:prstGeom prst="roundRect">
            <a:avLst>
              <a:gd name="adj" fmla="val 8571"/>
            </a:avLst>
          </a:prstGeom>
          <a:solidFill>
            <a:srgbClr val="152035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2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77256" y="2651760"/>
            <a:ext cx="1572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477256" y="3246120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196328" y="2514600"/>
            <a:ext cx="1572768" cy="1280160"/>
          </a:xfrm>
          <a:prstGeom prst="roundRect">
            <a:avLst>
              <a:gd name="adj" fmla="val 8571"/>
            </a:avLst>
          </a:prstGeom>
          <a:solidFill>
            <a:srgbClr val="152035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2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196328" y="2651760"/>
            <a:ext cx="1572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7196328" y="3246120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14400" y="40416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CatBoost  ·  FastAPI  ·  Leaflet.js  ·  Chart.js  ·  Docker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445312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8,173 real Bengaluru incidents  ·  Production-ready deployment  ·  Shiva Preetham Rohith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ASTRAM AI — Bengaluru Traffic Intelligence</dc:title>
  <dc:subject>PptxGenJS Presentation</dc:subject>
  <dc:creator>Shiva Preetham Rohith</dc:creator>
  <cp:lastModifiedBy>Shiva Preetham Rohith</cp:lastModifiedBy>
  <cp:revision>1</cp:revision>
  <dcterms:created xsi:type="dcterms:W3CDTF">2026-06-23T16:54:44Z</dcterms:created>
  <dcterms:modified xsi:type="dcterms:W3CDTF">2026-06-23T16:54:44Z</dcterms:modified>
</cp:coreProperties>
</file>